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305B8C"/>
                </a:solidFill>
                <a:latin typeface="Aptos"/>
              </a:rPr>
              <a:t>IDS REVIEW –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33272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F395A"/>
                </a:solidFill>
                <a:latin typeface="Aptos"/>
              </a:rPr>
              <a:t>Malicious Prompt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337560"/>
            <a:ext cx="96012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23272B"/>
                </a:solidFill>
                <a:latin typeface="Aptos"/>
              </a:rPr>
              <a:t>A machine-learning approach to classify prompts as safe or malicious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251960"/>
            <a:ext cx="1097280" cy="54864"/>
          </a:xfrm>
          <a:prstGeom prst="rect">
            <a:avLst/>
          </a:prstGeom>
          <a:solidFill>
            <a:srgbClr val="3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617720"/>
            <a:ext cx="7772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3272B"/>
                </a:solidFill>
                <a:latin typeface="Aptos"/>
              </a:rPr>
              <a:t>Presented by: Abdul Faatih Siddiqui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010912"/>
            <a:ext cx="8686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F6973"/>
                </a:solidFill>
                <a:latin typeface="Aptos"/>
              </a:rPr>
              <a:t>Chaitanya Bharathi Institute of Technology, Hyderabad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263640"/>
            <a:ext cx="6858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F6973"/>
                </a:solidFill>
                <a:latin typeface="Aptos"/>
              </a:rPr>
              <a:t>Case study • Dataset • Methodology • Initial progress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F395A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77240" cy="50292"/>
          </a:xfrm>
          <a:prstGeom prst="rect">
            <a:avLst/>
          </a:prstGeom>
          <a:solidFill>
            <a:srgbClr val="3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973"/>
                </a:solidFill>
                <a:latin typeface="Aptos"/>
              </a:rPr>
              <a:t>Why malicious prompt detection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F6973"/>
                </a:solidFill>
                <a:latin typeface="Aptos"/>
              </a:rPr>
              <a:t>IDS Review – 1  |  Malicious Prompt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698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AI systems rely on user prompts to understand and execute instructions.</a:t>
            </a:r>
          </a:p>
          <a:p>
            <a:pPr>
              <a:spcAft>
                <a:spcPts val="20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Some prompts may contain adversarial or manipulative instructions, including prompt-injection attempts.</a:t>
            </a:r>
          </a:p>
          <a:p>
            <a:pPr>
              <a:spcAft>
                <a:spcPts val="20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Identifying malicious prompts manually is difficult when large numbers of inputs must be checked.</a:t>
            </a:r>
          </a:p>
          <a:p>
            <a:pPr>
              <a:spcAft>
                <a:spcPts val="20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This project investigates a machine-learning classifier that labels each prompt as safe (0) or malicious (1).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71500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05B8C"/>
                </a:solidFill>
                <a:latin typeface="Aptos"/>
              </a:rPr>
              <a:t>Problem focus: automated binary classification of prompt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F395A"/>
                </a:solidFill>
                <a:latin typeface="Aptos"/>
              </a:rPr>
              <a:t>2.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77240" cy="50292"/>
          </a:xfrm>
          <a:prstGeom prst="rect">
            <a:avLst/>
          </a:prstGeom>
          <a:solidFill>
            <a:srgbClr val="3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973"/>
                </a:solidFill>
                <a:latin typeface="Aptos"/>
              </a:rPr>
              <a:t>Project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F6973"/>
                </a:solidFill>
                <a:latin typeface="Aptos"/>
              </a:rPr>
              <a:t>IDS Review – 1  |  Malicious Prompt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698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Prepare the prompt dataset by selecting relevant columns and removing missing records.</a:t>
            </a:r>
          </a:p>
          <a:p>
            <a:pPr>
              <a:spcAft>
                <a:spcPts val="17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Convert text into numerical features using TF-IDF and additional prompt-level features.</a:t>
            </a:r>
          </a:p>
          <a:p>
            <a:pPr>
              <a:spcAft>
                <a:spcPts val="17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Train and compare Logistic Regression, Linear SVM, and Random Forest classifiers.</a:t>
            </a:r>
          </a:p>
          <a:p>
            <a:pPr>
              <a:spcAft>
                <a:spcPts val="17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Evaluate model performance using F1-score, precision, recall, and accuracy.</a:t>
            </a:r>
          </a:p>
          <a:p>
            <a:pPr>
              <a:spcAft>
                <a:spcPts val="17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Select a suitable model for predicting safe and malicious prompts.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F395A"/>
                </a:solidFill>
                <a:latin typeface="Aptos"/>
              </a:rPr>
              <a:t>3. 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77240" cy="50292"/>
          </a:xfrm>
          <a:prstGeom prst="rect">
            <a:avLst/>
          </a:prstGeom>
          <a:solidFill>
            <a:srgbClr val="3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973"/>
                </a:solidFill>
                <a:latin typeface="Aptos"/>
              </a:rPr>
              <a:t>Source and data used in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F6973"/>
                </a:solidFill>
                <a:latin typeface="Aptos"/>
              </a:rPr>
              <a:t>IDS Review – 1  |  Malicious Prompt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395A"/>
                </a:solidFill>
                <a:latin typeface="Aptos"/>
              </a:rPr>
              <a:t>Dataset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dirty="0">
                <a:solidFill>
                  <a:srgbClr val="23272B"/>
                </a:solidFill>
                <a:latin typeface="Aptos"/>
              </a:rPr>
              <a:t>Kaggle — Data Sprint: Prompt-based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05B8C"/>
                </a:solidFill>
                <a:latin typeface="Aptos"/>
              </a:rPr>
              <a:t>https://www.kaggle.com/competitions/data-sprint-prompt-based-classififcation/data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395A"/>
                </a:solidFill>
                <a:latin typeface="Aptos"/>
              </a:rPr>
              <a:t>Dataset details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3218688"/>
          <a:ext cx="104241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95A"/>
                          </a:solidFill>
                          <a:latin typeface="Aptos"/>
                        </a:defRPr>
                      </a:pPr>
                      <a:r>
                        <a:t>Training file</a:t>
                      </a:r>
                    </a:p>
                  </a:txBody>
                  <a:tcPr marL="109728" marR="73152" marT="54864" marB="36576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  <a:latin typeface="Aptos"/>
                        </a:defRPr>
                      </a:pPr>
                      <a:r>
                        <a:t>merged_train_70.csv</a:t>
                      </a:r>
                    </a:p>
                  </a:txBody>
                  <a:tcPr marL="109728" marR="73152" marT="54864" marB="36576">
                    <a:solidFill>
                      <a:srgbClr val="EB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95A"/>
                          </a:solidFill>
                          <a:latin typeface="Aptos"/>
                        </a:defRPr>
                      </a:pPr>
                      <a:r>
                        <a:rPr dirty="0"/>
                        <a:t>Validation file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  <a:latin typeface="Aptos"/>
                        </a:defRPr>
                      </a:pPr>
                      <a:r>
                        <a:t>merged_test_30.csv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95A"/>
                          </a:solidFill>
                          <a:latin typeface="Aptos"/>
                        </a:defRPr>
                      </a:pPr>
                      <a:r>
                        <a:t>Input / target</a:t>
                      </a:r>
                    </a:p>
                  </a:txBody>
                  <a:tcPr marL="109728" marR="73152" marT="54864" marB="36576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  <a:latin typeface="Aptos"/>
                        </a:defRPr>
                      </a:pPr>
                      <a:r>
                        <a:t>Prompt / isMalicious</a:t>
                      </a:r>
                    </a:p>
                  </a:txBody>
                  <a:tcPr marL="109728" marR="73152" marT="54864" marB="36576">
                    <a:solidFill>
                      <a:srgbClr val="EB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95A"/>
                          </a:solidFill>
                          <a:latin typeface="Aptos"/>
                        </a:defRPr>
                      </a:pPr>
                      <a:r>
                        <a:t>After cleaning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  <a:latin typeface="Aptos"/>
                        </a:defRPr>
                      </a:pPr>
                      <a:r>
                        <a:t>27,531 training rows; 11,703 validation rows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95A"/>
                          </a:solidFill>
                          <a:latin typeface="Aptos"/>
                        </a:defRPr>
                      </a:pPr>
                      <a:r>
                        <a:t>Training labels</a:t>
                      </a:r>
                    </a:p>
                  </a:txBody>
                  <a:tcPr marL="109728" marR="73152" marT="54864" marB="36576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72B"/>
                          </a:solidFill>
                          <a:latin typeface="Aptos"/>
                        </a:defRPr>
                      </a:pPr>
                      <a:r>
                        <a:rPr dirty="0"/>
                        <a:t>13,765 safe (0); 13,766 malicious (1)</a:t>
                      </a:r>
                    </a:p>
                  </a:txBody>
                  <a:tcPr marL="109728" marR="73152" marT="54864" marB="36576">
                    <a:solidFill>
                      <a:srgbClr val="EB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41248" y="5806440"/>
            <a:ext cx="10332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973"/>
                </a:solidFill>
                <a:latin typeface="Aptos"/>
              </a:rPr>
              <a:t>The notebook retains the Prompt and isMalicious columns and drops rows with missing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F395A"/>
                </a:solidFill>
                <a:latin typeface="Aptos"/>
              </a:rPr>
              <a:t>4. Proposed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77240" cy="50292"/>
          </a:xfrm>
          <a:prstGeom prst="rect">
            <a:avLst/>
          </a:prstGeom>
          <a:solidFill>
            <a:srgbClr val="3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973"/>
                </a:solidFill>
                <a:latin typeface="Aptos"/>
              </a:rPr>
              <a:t>End-to-end classification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F6973"/>
                </a:solidFill>
                <a:latin typeface="Aptos"/>
              </a:rPr>
              <a:t>IDS Review – 1  |  Malicious Prompt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554480"/>
            <a:ext cx="4892040" cy="1078992"/>
          </a:xfrm>
          <a:prstGeom prst="roundRect">
            <a:avLst/>
          </a:prstGeom>
          <a:solidFill>
            <a:srgbClr val="EBF1F7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F395A"/>
                </a:solidFill>
                <a:latin typeface="Aptos"/>
              </a:defRPr>
            </a:pPr>
            <a:r>
              <a:t>1. Dataset</a:t>
            </a:r>
          </a:p>
          <a:p>
            <a:pPr>
              <a:defRPr sz="1400">
                <a:solidFill>
                  <a:srgbClr val="23272B"/>
                </a:solidFill>
                <a:latin typeface="Aptos"/>
              </a:defRPr>
            </a:pPr>
            <a:r>
              <a:t>Kaggle CSV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554480"/>
            <a:ext cx="4892040" cy="1078992"/>
          </a:xfrm>
          <a:prstGeom prst="roundRect">
            <a:avLst/>
          </a:prstGeom>
          <a:solidFill>
            <a:srgbClr val="EBF1F7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F395A"/>
                </a:solidFill>
                <a:latin typeface="Aptos"/>
              </a:defRPr>
            </a:pPr>
            <a:r>
              <a:t>2. Cleaning</a:t>
            </a:r>
          </a:p>
          <a:p>
            <a:pPr>
              <a:defRPr sz="1400">
                <a:solidFill>
                  <a:srgbClr val="23272B"/>
                </a:solidFill>
                <a:latin typeface="Aptos"/>
              </a:defRPr>
            </a:pPr>
            <a:r>
              <a:t>Select columns; drop missing rows; lowercase and normalize spaces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3063239"/>
            <a:ext cx="4892040" cy="1078992"/>
          </a:xfrm>
          <a:prstGeom prst="roundRect">
            <a:avLst/>
          </a:prstGeom>
          <a:solidFill>
            <a:srgbClr val="EBF1F7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F395A"/>
                </a:solidFill>
                <a:latin typeface="Aptos"/>
              </a:defRPr>
            </a:pPr>
            <a:r>
              <a:t>3. Feature extraction</a:t>
            </a:r>
          </a:p>
          <a:p>
            <a:pPr>
              <a:defRPr sz="1400">
                <a:solidFill>
                  <a:srgbClr val="23272B"/>
                </a:solidFill>
                <a:latin typeface="Aptos"/>
              </a:defRPr>
            </a:pPr>
            <a:r>
              <a:t>TF-IDF (unigrams + bigrams) and 3 additional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063239"/>
            <a:ext cx="4892040" cy="1078992"/>
          </a:xfrm>
          <a:prstGeom prst="roundRect">
            <a:avLst/>
          </a:prstGeom>
          <a:solidFill>
            <a:srgbClr val="EBF1F7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F395A"/>
                </a:solidFill>
                <a:latin typeface="Aptos"/>
              </a:defRPr>
            </a:pPr>
            <a:r>
              <a:t>4. Model training</a:t>
            </a:r>
          </a:p>
          <a:p>
            <a:pPr>
              <a:defRPr sz="1400">
                <a:solidFill>
                  <a:srgbClr val="23272B"/>
                </a:solidFill>
                <a:latin typeface="Aptos"/>
              </a:defRPr>
            </a:pPr>
            <a:r>
              <a:t>Logistic Regression, Linear SVM, Random Forest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572000"/>
            <a:ext cx="4892040" cy="1078992"/>
          </a:xfrm>
          <a:prstGeom prst="roundRect">
            <a:avLst/>
          </a:prstGeom>
          <a:solidFill>
            <a:srgbClr val="EBF1F7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F395A"/>
                </a:solidFill>
                <a:latin typeface="Aptos"/>
              </a:defRPr>
            </a:pPr>
            <a:r>
              <a:t>5. Evaluation</a:t>
            </a:r>
          </a:p>
          <a:p>
            <a:pPr>
              <a:defRPr sz="1400">
                <a:solidFill>
                  <a:srgbClr val="23272B"/>
                </a:solidFill>
                <a:latin typeface="Aptos"/>
              </a:defRPr>
            </a:pPr>
            <a:r>
              <a:t>Compare F1-score, precision, recall, and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4572000"/>
            <a:ext cx="4892040" cy="1078992"/>
          </a:xfrm>
          <a:prstGeom prst="roundRect">
            <a:avLst/>
          </a:prstGeom>
          <a:solidFill>
            <a:srgbClr val="EBF1F7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F395A"/>
                </a:solidFill>
                <a:latin typeface="Aptos"/>
              </a:defRPr>
            </a:pPr>
            <a:r>
              <a:t>6. Model selection</a:t>
            </a:r>
          </a:p>
          <a:p>
            <a:pPr>
              <a:defRPr sz="1400">
                <a:solidFill>
                  <a:srgbClr val="23272B"/>
                </a:solidFill>
                <a:latin typeface="Aptos"/>
              </a:defRPr>
            </a:pPr>
            <a:r>
              <a:t>Choose the best-performing classifier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33288" y="2093976"/>
            <a:ext cx="502920" cy="0"/>
          </a:xfrm>
          <a:prstGeom prst="line">
            <a:avLst/>
          </a:prstGeom>
          <a:ln w="22860">
            <a:solidFill>
              <a:srgbClr val="30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68512" y="2633472"/>
            <a:ext cx="0" cy="356616"/>
          </a:xfrm>
          <a:prstGeom prst="line">
            <a:avLst/>
          </a:prstGeom>
          <a:ln w="22860">
            <a:solidFill>
              <a:srgbClr val="30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733288" y="3529584"/>
            <a:ext cx="502920" cy="0"/>
          </a:xfrm>
          <a:prstGeom prst="line">
            <a:avLst/>
          </a:prstGeom>
          <a:ln w="22860">
            <a:solidFill>
              <a:srgbClr val="30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91840" y="4069080"/>
            <a:ext cx="0" cy="429768"/>
          </a:xfrm>
          <a:prstGeom prst="line">
            <a:avLst/>
          </a:prstGeom>
          <a:ln w="22860">
            <a:solidFill>
              <a:srgbClr val="30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33288" y="5038344"/>
            <a:ext cx="502920" cy="0"/>
          </a:xfrm>
          <a:prstGeom prst="line">
            <a:avLst/>
          </a:prstGeom>
          <a:ln w="22860">
            <a:solidFill>
              <a:srgbClr val="30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390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Review 1 - Malicious Prompt Detection</dc:title>
  <dc:subject>Case study problem, objectives, dataset, methodology, and initial progress</dc:subject>
  <dc:creator>Abdul Faatih Siddiqui</dc:creator>
  <cp:keywords/>
  <dc:description>generated using python-pptx</dc:description>
  <cp:lastModifiedBy>Abdul Faatih Siddiqui</cp:lastModifiedBy>
  <cp:revision>2</cp:revision>
  <dcterms:created xsi:type="dcterms:W3CDTF">2013-01-27T09:14:16Z</dcterms:created>
  <dcterms:modified xsi:type="dcterms:W3CDTF">2026-10-09T09:59:16Z</dcterms:modified>
  <cp:category/>
</cp:coreProperties>
</file>